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3" r:id="rId9"/>
    <p:sldId id="264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20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AE0E-549E-DC0D-F07F-57E89A79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17AED-0103-9349-4497-FCAD275EE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480FA-7B7D-E049-1554-41C459705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D9FF5-A5E9-7A86-ADCD-55C550B7E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0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EC5C-E4F1-1D22-9CD7-F659A9E8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B8D21-D5D7-758C-B2D3-3F259CFBA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1D710-945D-A910-E29F-376268850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1F5CD-D5F2-ED92-3ED9-A5BC212AA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34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66D46-A799-2D9B-D812-51126968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D5B48-1C1B-AC86-2F84-17DAE38ED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2E3BC-7C79-B257-1CBA-8937CC618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DC351-D515-6926-62B1-0C18E859C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2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219456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COURSE PROJECT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eKYC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 IoT System on Google Kubernetes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CameraX · ML Kit 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· FastAPI · Pub/Sub 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(ArcFace + Facenet512) 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FCM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212080"/>
            <a:ext cx="21945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Communications and Networking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banking eKYC system is a perfect IoT-class project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728216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282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168249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onboarding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0299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need identity verification without a branch visit — the phone becomes the interface.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843784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43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2798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the IoT sensor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1455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touchscreen, microphone and network link — our IoT device is the customer's Android phone.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785616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59352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59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3913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cost matter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2611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concurrent users, spiky traffic, and off-hours cost savings must all be handled by the cloud tier.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901184"/>
            <a:ext cx="11155680" cy="960120"/>
          </a:xfrm>
          <a:prstGeom prst="rect">
            <a:avLst/>
          </a:prstGeom>
          <a:solidFill>
            <a:srgbClr val="111E2F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74920"/>
            <a:ext cx="621792" cy="621792"/>
          </a:xfrm>
          <a:prstGeom prst="ellipse">
            <a:avLst/>
          </a:prstGeom>
          <a:solidFill>
            <a:srgbClr val="0B142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749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</a:rPr>
              <a:t>◎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5029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over time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53766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appearance drifts; the model must adapt per user without a full retrain or any downtime.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Picture 228">
            <a:extLst>
              <a:ext uri="{FF2B5EF4-FFF2-40B4-BE49-F238E27FC236}">
                <a16:creationId xmlns:a16="http://schemas.microsoft.com/office/drawing/2014/main" id="{A2DEB0CB-0A64-CCAB-7346-DF1578690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1" name="Graphic 230">
            <a:extLst>
              <a:ext uri="{FF2B5EF4-FFF2-40B4-BE49-F238E27FC236}">
                <a16:creationId xmlns:a16="http://schemas.microsoft.com/office/drawing/2014/main" id="{A5F29FC4-EEA0-90EE-74FA-D472FED1A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7827" y="1323436"/>
            <a:ext cx="1200150" cy="381000"/>
          </a:xfrm>
          <a:prstGeom prst="rect">
            <a:avLst/>
          </a:pr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620F5F0C-96EC-902F-272E-0AF8A56FF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509" y="3521432"/>
            <a:ext cx="1508491" cy="847772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B61B9C33-6E23-484F-B870-8224E9C7D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912" y="1084053"/>
            <a:ext cx="478766" cy="478766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1DAABDC4-959F-6DB7-87C8-FFC5887D7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7780" y="100282"/>
            <a:ext cx="2446308" cy="1223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Signup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capture → 3 poses × 3 photos → multipart upload → enrolled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0992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6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645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Launch &amp; register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9385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Email + password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7004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6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2606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Face scan — CENTER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8986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ML Kit validates each frame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47472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63016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0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6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5661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Face scan — LEFT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858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3 photos captured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590288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90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6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25880" y="45262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Face scan — RIGHT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818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3 photos captured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394960"/>
            <a:ext cx="5760720" cy="804672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555040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504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6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25880" y="5486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Upload &amp; push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57790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Multipart POST + FCM 'enrolled'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1554480"/>
            <a:ext cx="5212080" cy="48006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What the backend does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2103120"/>
            <a:ext cx="4846320" cy="256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/api/v1/ekyc/upload-photos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verified · 9 multipart parts received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persisted to Firebase Storage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published → banking-ekyc-sign-up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pulls, runs DeepFace ensemble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 stored in tb_user_faces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→ device: 'eKYC complete'</a:t>
            </a:r>
            <a:endParaRPr lang="en-US" sz="13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D2E6BB5-B8B8-024A-C687-87EE9F6E3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722" y="4438291"/>
            <a:ext cx="1811116" cy="1811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Signin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capture → ensemble match in the cloud → FCM result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6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Enter 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Device identifies 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6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33672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Capture 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33672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Single front photo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18504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6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41464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Cloud match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41464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Ensemble score computed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26296" y="1554480"/>
            <a:ext cx="2743200" cy="109728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09176" y="171907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409176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6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49256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FCM result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49256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Push notification to device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926080"/>
            <a:ext cx="11155680" cy="338328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Ensemble scoring — production code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520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600" b="1" dirty="0">
              <a:solidFill>
                <a:srgbClr val="F8FA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</a:t>
            </a: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0.5 · ArcFace_dist + 0.3 · Facenet512_dist + 0.2 · (1 − classifier_proba)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⇔  final_score  &lt;  0.50   (FINAL_THRESHOLD)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31520" y="4983480"/>
            <a:ext cx="3447288" cy="11430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5074920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</a:rPr>
              <a:t>50%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31520" y="5623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ArcFace distance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61688" y="4983480"/>
            <a:ext cx="3447288" cy="114300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61688" y="5074920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</a:rPr>
              <a:t>30%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4361688" y="5623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Facenet512 distance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91856" y="4983480"/>
            <a:ext cx="3447288" cy="114300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91856" y="5074920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20%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991856" y="562356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Classifier (1 − proba)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402CD-B54B-B72C-63F2-FE16F688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86E23A-0571-7A91-7773-3883DE2D5419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F8F321B-F801-BCB6-DEF2-08C09F6C04A2}"/>
              </a:ext>
            </a:extLst>
          </p:cNvPr>
          <p:cNvSpPr/>
          <p:nvPr/>
        </p:nvSpPr>
        <p:spPr>
          <a:xfrm>
            <a:off x="502920" y="1554480"/>
            <a:ext cx="374904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AB130D99-831E-68EA-80C1-34352A6B5C55}"/>
              </a:ext>
            </a:extLst>
          </p:cNvPr>
          <p:cNvSpPr/>
          <p:nvPr/>
        </p:nvSpPr>
        <p:spPr>
          <a:xfrm>
            <a:off x="731520" y="172097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Collect user input</a:t>
            </a:r>
            <a:endParaRPr lang="en-US" sz="1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DC30798F-2A35-C186-1181-F653936F82E1}"/>
              </a:ext>
            </a:extLst>
          </p:cNvPr>
          <p:cNvSpPr/>
          <p:nvPr/>
        </p:nvSpPr>
        <p:spPr>
          <a:xfrm>
            <a:off x="731520" y="226961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1.5.3 real-time capture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Phase-based: center / left / right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to confirm, no stored input</a:t>
            </a:r>
            <a:endParaRPr lang="en-US" sz="13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447239E6-E0DA-2D26-A196-4FE85B407E41}"/>
              </a:ext>
            </a:extLst>
          </p:cNvPr>
          <p:cNvSpPr/>
          <p:nvPr/>
        </p:nvSpPr>
        <p:spPr>
          <a:xfrm>
            <a:off x="731520" y="598932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BC98AB12-44D0-3AB0-0F5D-BF04E4536A35}"/>
              </a:ext>
            </a:extLst>
          </p:cNvPr>
          <p:cNvSpPr/>
          <p:nvPr/>
        </p:nvSpPr>
        <p:spPr>
          <a:xfrm>
            <a:off x="731520" y="6053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FaceScanScreen.kt · FaceDetectionAnalyzer.kt</a:t>
            </a:r>
            <a:endParaRPr lang="en-US" sz="1000" dirty="0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74EE64CE-F439-D76C-461E-2ACF63457B0C}"/>
              </a:ext>
            </a:extLst>
          </p:cNvPr>
          <p:cNvSpPr/>
          <p:nvPr/>
        </p:nvSpPr>
        <p:spPr>
          <a:xfrm>
            <a:off x="4407408" y="1554480"/>
            <a:ext cx="374904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12B8F83F-3730-C6A4-2103-66244F85B67C}"/>
              </a:ext>
            </a:extLst>
          </p:cNvPr>
          <p:cNvSpPr/>
          <p:nvPr/>
        </p:nvSpPr>
        <p:spPr>
          <a:xfrm>
            <a:off x="4636008" y="172097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Infer locally + display</a:t>
            </a:r>
            <a:endParaRPr lang="en-US" sz="18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4603A590-BFA7-5536-0A9B-C30E26B3A6CB}"/>
              </a:ext>
            </a:extLst>
          </p:cNvPr>
          <p:cNvSpPr/>
          <p:nvPr/>
        </p:nvSpPr>
        <p:spPr>
          <a:xfrm>
            <a:off x="4636008" y="226961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Face Detection on every frame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captures rejected on-device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on-screen + FCM banner</a:t>
            </a:r>
            <a:endParaRPr lang="en-US" sz="13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D37189DE-D776-336B-A8ED-8C44A6C87DBF}"/>
              </a:ext>
            </a:extLst>
          </p:cNvPr>
          <p:cNvSpPr/>
          <p:nvPr/>
        </p:nvSpPr>
        <p:spPr>
          <a:xfrm>
            <a:off x="4636008" y="598932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1CF88B71-CEB9-5CB2-9BA0-7A5D17224CA4}"/>
              </a:ext>
            </a:extLst>
          </p:cNvPr>
          <p:cNvSpPr/>
          <p:nvPr/>
        </p:nvSpPr>
        <p:spPr>
          <a:xfrm>
            <a:off x="4636008" y="6053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FaceScanScreen.kt :449–484</a:t>
            </a:r>
            <a:endParaRPr lang="en-US" sz="10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047BB0F6-D8D6-E431-420C-9AC63D8DE5EA}"/>
              </a:ext>
            </a:extLst>
          </p:cNvPr>
          <p:cNvSpPr/>
          <p:nvPr/>
        </p:nvSpPr>
        <p:spPr>
          <a:xfrm>
            <a:off x="8311896" y="1554480"/>
            <a:ext cx="374904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BAC18A69-4D78-AD0D-E973-66BB4A57F63C}"/>
              </a:ext>
            </a:extLst>
          </p:cNvPr>
          <p:cNvSpPr/>
          <p:nvPr/>
        </p:nvSpPr>
        <p:spPr>
          <a:xfrm>
            <a:off x="8540496" y="172097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Runs on IoT device</a:t>
            </a:r>
            <a:endParaRPr lang="en-US" sz="18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3B66FE5B-E85E-929C-8ABF-8188D6777246}"/>
              </a:ext>
            </a:extLst>
          </p:cNvPr>
          <p:cNvSpPr/>
          <p:nvPr/>
        </p:nvSpPr>
        <p:spPr>
          <a:xfrm>
            <a:off x="8540496" y="226961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app, minSdk 36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emulator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Android phone</a:t>
            </a:r>
            <a:endParaRPr lang="en-US" sz="1300" dirty="0"/>
          </a:p>
        </p:txBody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19F79716-F837-00AF-3237-0A1E7FD17757}"/>
              </a:ext>
            </a:extLst>
          </p:cNvPr>
          <p:cNvSpPr/>
          <p:nvPr/>
        </p:nvSpPr>
        <p:spPr>
          <a:xfrm>
            <a:off x="8540496" y="598932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B9C7491A-C1E1-4245-6146-93592547FE00}"/>
              </a:ext>
            </a:extLst>
          </p:cNvPr>
          <p:cNvSpPr/>
          <p:nvPr/>
        </p:nvSpPr>
        <p:spPr>
          <a:xfrm>
            <a:off x="8540496" y="6053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app/build.gradle.kts :17–18</a:t>
            </a:r>
            <a:endParaRPr lang="en-US" sz="1000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78921410-F47F-CE61-8FA7-D7B9D1B4230F}"/>
              </a:ext>
            </a:extLst>
          </p:cNvPr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IoT Device</a:t>
            </a:r>
            <a:endParaRPr lang="en-US" sz="30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63D5CED6-A377-6954-88A2-E73B359EC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085" y="4191575"/>
            <a:ext cx="1276709" cy="127670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3F1A8C1-8440-4E4A-1DD2-E614F5D00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711" y="4188124"/>
            <a:ext cx="1280160" cy="128016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A36992F9-4B69-6A3A-F5E9-8C933987D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4188124"/>
            <a:ext cx="1280160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8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41353-671B-0F27-8F08-CA409D56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30340F-831A-C0F5-3619-68E64051900B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BAE19A62-1653-8DDB-81E9-B17CA634F07B}"/>
              </a:ext>
            </a:extLst>
          </p:cNvPr>
          <p:cNvSpPr/>
          <p:nvPr/>
        </p:nvSpPr>
        <p:spPr>
          <a:xfrm>
            <a:off x="502920" y="1554480"/>
            <a:ext cx="530352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E019A34D-4743-8E46-E68F-30FE707A115E}"/>
              </a:ext>
            </a:extLst>
          </p:cNvPr>
          <p:cNvSpPr/>
          <p:nvPr/>
        </p:nvSpPr>
        <p:spPr>
          <a:xfrm>
            <a:off x="731520" y="1772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Run inference in cloud VM</a:t>
            </a:r>
            <a:endParaRPr lang="en-US" sz="19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9383FC9-22B1-7660-6B97-10AD1470297F}"/>
              </a:ext>
            </a:extLst>
          </p:cNvPr>
          <p:cNvSpPr/>
          <p:nvPr/>
        </p:nvSpPr>
        <p:spPr>
          <a:xfrm>
            <a:off x="731520" y="232136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FastAPI async app, containerised multi-stage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Deployed to GKE in us-central1 Artifact Registry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DeepFace warms up ArcFace + Facenet512 on startup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RetinaFace detector · TensorFlow CPU</a:t>
            </a:r>
            <a:endParaRPr lang="en-US" sz="13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9CF0EA3-D0A4-462F-F88B-8E9B5B5B1289}"/>
              </a:ext>
            </a:extLst>
          </p:cNvPr>
          <p:cNvSpPr/>
          <p:nvPr/>
        </p:nvSpPr>
        <p:spPr>
          <a:xfrm>
            <a:off x="731520" y="5989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face_matching/Dockerfile · embedding_service.py</a:t>
            </a:r>
            <a:endParaRPr lang="en-US" sz="10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02D38A64-8ABF-162F-3A5B-D607F2CDF8F3}"/>
              </a:ext>
            </a:extLst>
          </p:cNvPr>
          <p:cNvSpPr/>
          <p:nvPr/>
        </p:nvSpPr>
        <p:spPr>
          <a:xfrm>
            <a:off x="6355080" y="1554480"/>
            <a:ext cx="530352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1D0B6D0-0E59-976C-8F41-5056B3A5223E}"/>
              </a:ext>
            </a:extLst>
          </p:cNvPr>
          <p:cNvSpPr/>
          <p:nvPr/>
        </p:nvSpPr>
        <p:spPr>
          <a:xfrm>
            <a:off x="6583680" y="1772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IoT ↔ cloud comms (HTML path)</a:t>
            </a:r>
            <a:endParaRPr lang="en-US" sz="19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91AC4216-2DEA-4606-E0EC-2A7198FA41C0}"/>
              </a:ext>
            </a:extLst>
          </p:cNvPr>
          <p:cNvSpPr/>
          <p:nvPr/>
        </p:nvSpPr>
        <p:spPr>
          <a:xfrm>
            <a:off x="6583680" y="232136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HTTPS multipart via Kong gateway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Google Cloud Managed TLS certificate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JWT-authenticated endpoints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Async FCM push back for inference result</a:t>
            </a:r>
            <a:endParaRPr lang="en-US" sz="13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3A1FB71-E9DC-3789-46F2-C1C9841A10AD}"/>
              </a:ext>
            </a:extLst>
          </p:cNvPr>
          <p:cNvSpPr/>
          <p:nvPr/>
        </p:nvSpPr>
        <p:spPr>
          <a:xfrm>
            <a:off x="6583680" y="5989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AuthApiService.kt · ekyc_endpoints.py · ingress.yaml</a:t>
            </a:r>
            <a:endParaRPr lang="en-US" sz="10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48D80438-7A01-F17B-1D49-838832ABD742}"/>
              </a:ext>
            </a:extLst>
          </p:cNvPr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Cloud</a:t>
            </a:r>
            <a:endParaRPr lang="en-US" sz="3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2835A9-37B9-BBA9-95D1-CCA61F125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628" y="4502126"/>
            <a:ext cx="1395754" cy="13957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3ED98A-4C8D-D3EE-B03C-76FE65EEA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324" y="4347972"/>
            <a:ext cx="1399032" cy="139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9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raphic 69">
            <a:extLst>
              <a:ext uri="{FF2B5EF4-FFF2-40B4-BE49-F238E27FC236}">
                <a16:creationId xmlns:a16="http://schemas.microsoft.com/office/drawing/2014/main" id="{BD4629FA-E4FA-F83D-C35C-FD6DD0FDB6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Users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109728" cy="1965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</a:rPr>
              <a:t>Stateless pods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Any replica can serve any request — shared state in Postgres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22D3E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109728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</a:rPr>
              <a:t>FastAPI async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2286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One pod multiplexes many in-flight uploads via asyncio event loop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49040"/>
            <a:ext cx="10972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Pub/Sub pull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PUBSUB_MAX_MESSAGES=20 in-flight per worker — built-in backpressure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669280" cy="1965960"/>
          </a:xfrm>
          <a:prstGeom prst="rect">
            <a:avLst/>
          </a:prstGeom>
          <a:solidFill>
            <a:srgbClr val="111E2F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749040"/>
            <a:ext cx="109728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</a:rPr>
              <a:t>HPA CronJob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4480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Business-hours scale up, off-hours scale to zero — cost savings</a:t>
            </a:r>
            <a:endParaRPr lang="en-US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C7EFA3D-08FD-8A96-E736-94427BA6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347" y="3772221"/>
            <a:ext cx="776598" cy="77659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2E0F7D9-0BFB-311B-DE66-212A72995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3796" y="1611630"/>
            <a:ext cx="647700" cy="6286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C1FB4CFD-C279-032E-7D66-1360AE0E8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3780" y="3851910"/>
            <a:ext cx="647700" cy="6286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9408813-673C-0D4A-C332-E9B3FE742C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2805" y="1597325"/>
            <a:ext cx="688675" cy="688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D8632-B65C-9ED8-59CF-399EF13F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676FFD-41F4-1202-14D6-8E1A90B5958C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64506B-5AE4-BD4E-966A-4CC414F29F37}"/>
              </a:ext>
            </a:extLst>
          </p:cNvPr>
          <p:cNvSpPr/>
          <p:nvPr/>
        </p:nvSpPr>
        <p:spPr>
          <a:xfrm>
            <a:off x="411480" y="27432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Model Updating</a:t>
            </a:r>
            <a:endParaRPr lang="en-US" sz="30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EB17CB5-5239-D2D8-D287-5A9C656FECB5}"/>
              </a:ext>
            </a:extLst>
          </p:cNvPr>
          <p:cNvSpPr/>
          <p:nvPr/>
        </p:nvSpPr>
        <p:spPr>
          <a:xfrm>
            <a:off x="502920" y="1554480"/>
            <a:ext cx="658368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EB67C3D-F765-6A47-96E0-74F3C8A388FC}"/>
              </a:ext>
            </a:extLst>
          </p:cNvPr>
          <p:cNvSpPr/>
          <p:nvPr/>
        </p:nvSpPr>
        <p:spPr>
          <a:xfrm>
            <a:off x="68580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classifier_service.py · partial_update()</a:t>
            </a:r>
            <a:endParaRPr lang="en-US" sz="13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8DA11ED-0329-E8D6-291B-56C7C22A82B3}"/>
              </a:ext>
            </a:extLst>
          </p:cNvPr>
          <p:cNvSpPr/>
          <p:nvPr/>
        </p:nvSpPr>
        <p:spPr>
          <a:xfrm>
            <a:off x="685800" y="214884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partial_update(self, positive_features):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self.is_trained: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self.train(positive_features); return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neg = self._generate_negative_samples(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positive_features)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np.vstack([positive_features, neg])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   = np.array(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[1]*len(positive_features) + [0]*len(neg))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features_scaled = self.scaler.transform(features)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self.clf.partial_fit(features_scaled, labels)</a:t>
            </a:r>
            <a:endParaRPr lang="en-US" sz="1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DBF1A87-D570-30EB-D6EB-D4A67FB1A9F9}"/>
              </a:ext>
            </a:extLst>
          </p:cNvPr>
          <p:cNvSpPr/>
          <p:nvPr/>
        </p:nvSpPr>
        <p:spPr>
          <a:xfrm>
            <a:off x="7269480" y="1554480"/>
            <a:ext cx="4389120" cy="4846320"/>
          </a:xfrm>
          <a:prstGeom prst="rect">
            <a:avLst/>
          </a:prstGeom>
          <a:solidFill>
            <a:srgbClr val="111E2F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0E67B13-08F8-A594-7079-4516C502D3AB}"/>
              </a:ext>
            </a:extLst>
          </p:cNvPr>
          <p:cNvSpPr/>
          <p:nvPr/>
        </p:nvSpPr>
        <p:spPr>
          <a:xfrm>
            <a:off x="74523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Rubric alignment</a:t>
            </a:r>
            <a:endParaRPr lang="en-US" sz="14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903E6D9-0898-A8AF-FE96-07033229B7DB}"/>
              </a:ext>
            </a:extLst>
          </p:cNvPr>
          <p:cNvSpPr/>
          <p:nvPr/>
        </p:nvSpPr>
        <p:spPr>
          <a:xfrm>
            <a:off x="7452360" y="210312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"User input and label transmitted to cloud"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 signin photo + email go up on /ekyc/login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"The cloud retrains the model"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 partial_fit() mutates SGD weights live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No downtime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No file reload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F8FAFC"/>
                </a:solidFill>
              </a:rPr>
              <a:t>Per-user boundary tightens over time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195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773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eKYC — IoT Course Project</dc:title>
  <dc:subject>PptxGenJS Presentation</dc:subject>
  <dc:creator>Yin Lin</dc:creator>
  <cp:lastModifiedBy>Lam Quoc Dinh</cp:lastModifiedBy>
  <cp:revision>8</cp:revision>
  <dcterms:created xsi:type="dcterms:W3CDTF">2026-04-11T12:30:01Z</dcterms:created>
  <dcterms:modified xsi:type="dcterms:W3CDTF">2026-04-11T18:37:55Z</dcterms:modified>
</cp:coreProperties>
</file>